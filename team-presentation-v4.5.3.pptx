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Deployment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1401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64748B"/>
                </a:solidFill>
              </a:rPr>
              <a:t>A PMO frontend that turns HubSpot into a deployment-management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691640"/>
            <a:ext cx="2377440" cy="914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F172A"/>
                </a:solidFill>
              </a:rPr>
              <a:t>CX Team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Instrumental + 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148840"/>
            <a:ext cx="548640" cy="0"/>
          </a:xfrm>
          <a:prstGeom prst="line">
            <a:avLst/>
          </a:prstGeom>
          <a:ln w="3175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1691640"/>
            <a:ext cx="237744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F172A"/>
                </a:solidFill>
              </a:rPr>
              <a:t>Deployment Portal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React + Firebase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0840" y="2148840"/>
            <a:ext cx="548640" cy="0"/>
          </a:xfrm>
          <a:prstGeom prst="line">
            <a:avLst/>
          </a:prstGeom>
          <a:ln w="3175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720840" y="2286000"/>
            <a:ext cx="548640" cy="0"/>
          </a:xfrm>
          <a:prstGeom prst="line">
            <a:avLst/>
          </a:prstGeom>
          <a:ln w="3175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9120" y="26517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bidirectional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691640"/>
            <a:ext cx="2377440" cy="914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F172A"/>
                </a:solidFill>
              </a:rPr>
              <a:t>HubSpot + APIs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the system of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35609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800" b="1">
                <a:solidFill>
                  <a:srgbClr val="0F172A"/>
                </a:solidFill>
              </a:rPr>
              <a:t>What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Consolidated UI for projects, station kits, fleet assets, shipments, DRIs — bidirectional with HubSpot.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54864" cy="192024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9658" y="3246120"/>
            <a:ext cx="35609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800" b="1">
                <a:solidFill>
                  <a:srgbClr val="0F172A"/>
                </a:solidFill>
              </a:rPr>
              <a:t>Why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HubSpot alone = hard to share externally, not AI-native, clunky for PMO work, no home for non-CRM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9658" y="3246120"/>
            <a:ext cx="54864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9236" y="3246120"/>
            <a:ext cx="35609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800" b="1">
                <a:solidFill>
                  <a:srgbClr val="0F172A"/>
                </a:solidFill>
              </a:rPr>
              <a:t>Two workflows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Instrumental Hardware Deployment (Asang) + SI Partner Deployment (Sneha). Same app today; splitting next.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9236" y="32461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38147" y="5394960"/>
            <a:ext cx="1417320" cy="2926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F172A"/>
                </a:solidFill>
              </a:rPr>
              <a:t>HubSpot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6907" y="5394960"/>
            <a:ext cx="1417320" cy="2926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F172A"/>
                </a:solidFill>
              </a:rPr>
              <a:t>Firebase RTDB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55667" y="5394960"/>
            <a:ext cx="1417320" cy="2926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F172A"/>
                </a:solidFill>
              </a:rPr>
              <a:t>Firebase 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4427" y="5394960"/>
            <a:ext cx="1417320" cy="2926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F172A"/>
                </a:solidFill>
              </a:rPr>
              <a:t>Cloud Functions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3187" y="5394960"/>
            <a:ext cx="1417320" cy="2926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F172A"/>
                </a:solidFill>
              </a:rPr>
              <a:t>Claude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1947" y="5394960"/>
            <a:ext cx="1417320" cy="2926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0F172A"/>
                </a:solidFill>
              </a:rPr>
              <a:t>Slack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What we'll 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085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502920" cy="502920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2357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What &amp;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86000"/>
            <a:ext cx="23570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</a:rPr>
              <a:t>the webapp + reason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1600200"/>
            <a:ext cx="34085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7298" y="1783080"/>
            <a:ext cx="50292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3098" y="1828800"/>
            <a:ext cx="2357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3098" y="2286000"/>
            <a:ext cx="23570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</a:rPr>
              <a:t>PLM, AI OS, workflow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600200"/>
            <a:ext cx="34085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0196" y="1783080"/>
            <a:ext cx="502920" cy="50292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996" y="1828800"/>
            <a:ext cx="2357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Hosting &amp;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5996" y="2286000"/>
            <a:ext cx="23570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</a:rPr>
              <a:t>free vs paid + JWT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34085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977640"/>
            <a:ext cx="502920" cy="502920"/>
          </a:xfrm>
          <a:prstGeom prst="roundRect">
            <a:avLst/>
          </a:prstGeom>
          <a:solidFill>
            <a:srgbClr val="DB2777"/>
          </a:solidFill>
          <a:ln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23360"/>
            <a:ext cx="2357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Under the hood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480560"/>
            <a:ext cx="23570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</a:rPr>
              <a:t>frontend + 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4418" y="3794760"/>
            <a:ext cx="34085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7298" y="3977640"/>
            <a:ext cx="502920" cy="5029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3098" y="4023360"/>
            <a:ext cx="2357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Build &amp; 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3098" y="4480560"/>
            <a:ext cx="23570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</a:rPr>
              <a:t>Claude Code + workflow +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7316" y="3794760"/>
            <a:ext cx="340857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80196" y="3977640"/>
            <a:ext cx="502920" cy="50292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5996" y="4023360"/>
            <a:ext cx="2357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Ops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5996" y="4480560"/>
            <a:ext cx="23570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</a:rPr>
              <a:t>where it fits + what to connect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Where this goes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530498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2000" b="1">
                <a:solidFill>
                  <a:srgbClr val="0F172A"/>
                </a:solidFill>
              </a:rPr>
              <a:t>Today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Single app, two workflows muddled (Instrumental + SI). Heavy HubSpot bidirectional sync. v4.5.x in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54864" cy="29260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6338" y="1691640"/>
            <a:ext cx="3530498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2000" b="1">
                <a:solidFill>
                  <a:srgbClr val="0F172A"/>
                </a:solidFill>
              </a:rPr>
              <a:t>Near-term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Split UIs (same backend) — Instrumental + SI each get optimized views. Adoption push across CX. Connect adjacent workstreams.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6338" y="1691640"/>
            <a:ext cx="54864" cy="292608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1156" y="1691640"/>
            <a:ext cx="3530498" cy="292608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2000" b="1">
                <a:solidFill>
                  <a:srgbClr val="0F172A"/>
                </a:solidFill>
              </a:rPr>
              <a:t>Long-term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Full PLM tool — replace Odoo / Arena for inventory, BOM, ECO. Integrate with Instrumental AI OS.
</a:t>
            </a:r>
            <a:r>
              <a:rPr sz="1200" i="1">
                <a:solidFill>
                  <a:srgbClr val="92400E"/>
                </a:solidFill>
              </a:rPr>
              <a:t>[BLANK — AI OS specifics]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41156" y="1691640"/>
            <a:ext cx="54864" cy="29260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307738" y="3154680"/>
            <a:ext cx="182880" cy="0"/>
          </a:xfrm>
          <a:prstGeom prst="line">
            <a:avLst/>
          </a:prstGeom>
          <a:ln w="3810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12556" y="3154680"/>
            <a:ext cx="182880" cy="0"/>
          </a:xfrm>
          <a:prstGeom prst="line">
            <a:avLst/>
          </a:prstGeom>
          <a:ln w="3810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4892040"/>
            <a:ext cx="10774375" cy="640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Why split the UIs?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029200"/>
            <a:ext cx="8671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Different stages, milestone definitions, and stakeholders → one merged UI adds confusion. Sneha owns SI; Asang owns Instrumental; backend stays shared.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Hosting + auth — free today, when we'd upgrade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291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Browser (React 18 + Vite)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21408"/>
            <a:ext cx="329184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Firebase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34056"/>
            <a:ext cx="3291840" cy="502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Firebase Auth (Google OAuth)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46704"/>
            <a:ext cx="3291840" cy="502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Cloud Functions (Node 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59352"/>
            <a:ext cx="3291840" cy="502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Realtime Database (RTDB)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46704"/>
            <a:ext cx="173736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0F172A"/>
                </a:solidFill>
              </a:rPr>
              <a:t>HubSpot · Claude · Slack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3598164"/>
            <a:ext cx="274320" cy="0"/>
          </a:xfrm>
          <a:prstGeom prst="line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1143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554480" cy="365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19A974"/>
                </a:solidFill>
              </a:rPr>
              <a:t>Spark (free) 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800600"/>
            <a:ext cx="1554480" cy="3657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D97706"/>
                </a:solidFill>
              </a:rPr>
              <a:t>Blaze if &gt; 2M CF/mo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800600"/>
            <a:ext cx="1554480" cy="3657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92400E"/>
                </a:solidFill>
              </a:rPr>
              <a:t>AWS — [BLANK]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14300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JWT auth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08760"/>
            <a:ext cx="5196535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1645920"/>
            <a:ext cx="502920" cy="502920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508760"/>
            <a:ext cx="42821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Sign in with Google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450592"/>
            <a:ext cx="5196535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2587752"/>
            <a:ext cx="50292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450592"/>
            <a:ext cx="42821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Firebase Auth issues JWT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92424"/>
            <a:ext cx="5196535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3529584"/>
            <a:ext cx="502920" cy="50292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392424"/>
            <a:ext cx="42821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JWT on every request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334256"/>
            <a:ext cx="5196535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37960" y="4471416"/>
            <a:ext cx="50292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334256"/>
            <a:ext cx="42821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Rules verify role at DB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Under the hood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92024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0F172A"/>
                </a:solidFill>
              </a:rPr>
              <a:t>Browser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React 18 + Vite
~770 KB bundle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468880"/>
            <a:ext cx="457200" cy="0"/>
          </a:xfrm>
          <a:prstGeom prst="line">
            <a:avLst/>
          </a:prstGeom>
          <a:ln w="3175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783080"/>
            <a:ext cx="219456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Firebase Hosting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606040"/>
            <a:ext cx="2194560" cy="548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Cloud Functions · Node 20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20+ callables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429000"/>
            <a:ext cx="2194560" cy="5486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Firebase Auth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Google OAuth + JWT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88920" y="2057400"/>
            <a:ext cx="457200" cy="411480"/>
          </a:xfrm>
          <a:prstGeom prst="line">
            <a:avLst/>
          </a:prstGeom>
          <a:ln w="2540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88920" y="2468880"/>
            <a:ext cx="457200" cy="411480"/>
          </a:xfrm>
          <a:prstGeom prst="line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88920" y="2468880"/>
            <a:ext cx="457200" cy="1234440"/>
          </a:xfrm>
          <a:prstGeom prst="line">
            <a:avLst/>
          </a:prstGeom>
          <a:ln w="2540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2194560"/>
            <a:ext cx="2286000" cy="8229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0F172A"/>
                </a:solidFill>
              </a:rPr>
              <a:t>Realtime Database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projects · docData · users
sync log · audit log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532120" y="2606040"/>
            <a:ext cx="457200" cy="27432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532120" y="2606040"/>
            <a:ext cx="457200" cy="27432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61120" y="1783080"/>
            <a:ext cx="2560320" cy="54864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0F172A"/>
                </a:solidFill>
              </a:rPr>
              <a:t>HubSpot APIs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Custom Objects · Owners · v4 Assoc.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606040"/>
            <a:ext cx="256032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0F172A"/>
                </a:solidFill>
              </a:rPr>
              <a:t>Anthropic Claude API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in-app AI 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429000"/>
            <a:ext cx="2560320" cy="54864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0F172A"/>
                </a:solidFill>
              </a:rPr>
              <a:t>Slack webhooks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feedback routing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532120" y="2057400"/>
            <a:ext cx="3383280" cy="822960"/>
          </a:xfrm>
          <a:prstGeom prst="line">
            <a:avLst/>
          </a:prstGeom>
          <a:ln w="22860">
            <a:solidFill>
              <a:srgbClr val="DB2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2120" y="2880360"/>
            <a:ext cx="3383280" cy="0"/>
          </a:xfrm>
          <a:prstGeom prst="line">
            <a:avLst/>
          </a:prstGeom>
          <a:ln w="2286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880360"/>
            <a:ext cx="3383280" cy="822960"/>
          </a:xfrm>
          <a:prstGeom prst="line">
            <a:avLst/>
          </a:prstGeom>
          <a:ln w="2286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4572000"/>
            <a:ext cx="2647873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2000" b="1">
                <a:solidFill>
                  <a:srgbClr val="19A974"/>
                </a:solidFill>
              </a:rPr>
              <a:t>20+</a:t>
            </a:r>
          </a:p>
          <a:p>
            <a:pPr algn="ctr">
              <a:spcBef>
                <a:spcPts val="0"/>
              </a:spcBef>
            </a:pPr>
            <a:r>
              <a:rPr sz="950">
                <a:solidFill>
                  <a:srgbClr val="0F172A"/>
                </a:solidFill>
              </a:rPr>
              <a:t>Cloud Functions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3713" y="4572000"/>
            <a:ext cx="2647873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2000" b="1">
                <a:solidFill>
                  <a:srgbClr val="3B82F6"/>
                </a:solidFill>
              </a:rPr>
              <a:t>~11K</a:t>
            </a:r>
          </a:p>
          <a:p>
            <a:pPr algn="ctr">
              <a:spcBef>
                <a:spcPts val="0"/>
              </a:spcBef>
            </a:pPr>
            <a:r>
              <a:rPr sz="950">
                <a:solidFill>
                  <a:srgbClr val="0F172A"/>
                </a:solidFill>
              </a:rPr>
              <a:t>lines in App.jsx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4467" y="4572000"/>
            <a:ext cx="2647873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2000" b="1">
                <a:solidFill>
                  <a:srgbClr val="A855F7"/>
                </a:solidFill>
              </a:rPr>
              <a:t>5</a:t>
            </a:r>
          </a:p>
          <a:p>
            <a:pPr algn="ctr">
              <a:spcBef>
                <a:spcPts val="0"/>
              </a:spcBef>
            </a:pPr>
            <a:r>
              <a:rPr sz="950">
                <a:solidFill>
                  <a:srgbClr val="0F172A"/>
                </a:solidFill>
              </a:rPr>
              <a:t>languages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15221" y="4572000"/>
            <a:ext cx="2647873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2000" b="1">
                <a:solidFill>
                  <a:srgbClr val="D97706"/>
                </a:solidFill>
              </a:rPr>
              <a:t>DB-level</a:t>
            </a:r>
          </a:p>
          <a:p>
            <a:pPr algn="ctr">
              <a:spcBef>
                <a:spcPts val="0"/>
              </a:spcBef>
            </a:pPr>
            <a:r>
              <a:rPr sz="950">
                <a:solidFill>
                  <a:srgbClr val="0F172A"/>
                </a:solidFill>
              </a:rPr>
              <a:t>access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Built with Claude Code — workflow +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2045147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9A974"/>
                </a:solidFill>
              </a:rPr>
              <a:t>Bump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045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version + README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72679" y="1828800"/>
            <a:ext cx="82296" cy="0"/>
          </a:xfrm>
          <a:prstGeom prst="line">
            <a:avLst/>
          </a:prstGeom>
          <a:ln w="2540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59547" y="1371600"/>
            <a:ext cx="2045147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9547" y="1536192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9A974"/>
                </a:solidFill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547" y="1828800"/>
            <a:ext cx="2045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npm run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09266" y="1828800"/>
            <a:ext cx="82296" cy="0"/>
          </a:xfrm>
          <a:prstGeom prst="line">
            <a:avLst/>
          </a:prstGeom>
          <a:ln w="2540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6134" y="1371600"/>
            <a:ext cx="2045147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6134" y="1536192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9A974"/>
                </a:solidFill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6134" y="1828800"/>
            <a:ext cx="2045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firebase deploy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45853" y="1828800"/>
            <a:ext cx="82296" cy="0"/>
          </a:xfrm>
          <a:prstGeom prst="line">
            <a:avLst/>
          </a:prstGeom>
          <a:ln w="2540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32721" y="1371600"/>
            <a:ext cx="2045147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721" y="1536192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9A974"/>
                </a:solidFill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721" y="1828800"/>
            <a:ext cx="2045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manual sync + RTDB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82440" y="1828800"/>
            <a:ext cx="82296" cy="0"/>
          </a:xfrm>
          <a:prstGeom prst="line">
            <a:avLst/>
          </a:prstGeom>
          <a:ln w="25400">
            <a:solidFill>
              <a:srgbClr val="19A9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69308" y="1371600"/>
            <a:ext cx="2045147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9308" y="1536192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9A974"/>
                </a:solidFill>
              </a:rPr>
              <a:t>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9308" y="1828800"/>
            <a:ext cx="20451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commit + zip +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560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Lessons from building with Claude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926080"/>
            <a:ext cx="28117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Define components at module scope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Nested components remount + lose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926080"/>
            <a:ext cx="54864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1900" y="2926080"/>
            <a:ext cx="28117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Field-level DB writes only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Whole-node sets can wipe RTDB (v4.5.1)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71900" y="292608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3977640"/>
            <a:ext cx="28117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Hardcode known type IDs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Discovery breaks on HubSpot reorder (v4.5.2)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977640"/>
            <a:ext cx="54864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71900" y="3977640"/>
            <a:ext cx="28117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 wrap="square"/>
          <a:lstStyle/>
          <a:p>
            <a:pPr algn="ctr"/>
            <a:r>
              <a:rPr sz="1100" b="1">
                <a:solidFill>
                  <a:srgbClr val="0F172A"/>
                </a:solidFill>
              </a:rPr>
              <a:t>Handle HubSpot 429/5xx explicitly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Silent partial sync otherwise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71900" y="3977640"/>
            <a:ext cx="54864" cy="9144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560320"/>
            <a:ext cx="4647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Version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2980944"/>
            <a:ext cx="201168" cy="201168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2048" y="2953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v3.0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953512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Security review PASSED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3346704"/>
            <a:ext cx="201168" cy="201168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8" y="3319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v3.x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3319272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HubSpot sync · DB-level access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0" y="3712464"/>
            <a:ext cx="201168" cy="201168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42048" y="3685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v4.0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685032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Security response · Project Overview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4078224"/>
            <a:ext cx="201168" cy="201168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42048" y="40507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v4.1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4050792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 writeback · si_admin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4443984"/>
            <a:ext cx="201168" cy="201168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42048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v4.4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4416552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Shipment writeback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0" y="4809744"/>
            <a:ext cx="201168" cy="201168"/>
          </a:xfrm>
          <a:prstGeom prst="roundRect">
            <a:avLst/>
          </a:prstGeom>
          <a:solidFill>
            <a:srgbClr val="19A974"/>
          </a:solidFill>
          <a:ln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42048" y="47823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v4.5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4782312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Kit + Fleet Asset writeback · DRI sync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5120640"/>
            <a:ext cx="5760720" cy="457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9A9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51206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🔒  Security review v3.0.0 passed · DB-level access · audit log · backups enabled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6199632"/>
            <a:ext cx="111401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6236208"/>
            <a:ext cx="11140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</a:rPr>
              <a:t>Confidential — Instrumental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7095" y="6236208"/>
            <a:ext cx="1554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</a:rPr>
              <a:t>INSTRUMENTAL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236208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40135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Where this fits + what's next to connect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508760"/>
            <a:ext cx="4572000" cy="2788920"/>
          </a:xfrm>
          <a:prstGeom prst="roundRect">
            <a:avLst/>
          </a:prstGeom>
          <a:solidFill>
            <a:srgbClr val="E8F7EF"/>
          </a:solidFill>
          <a:ln w="31750">
            <a:solidFill>
              <a:srgbClr val="19A974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280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59669"/>
                </a:solidFill>
              </a:rPr>
              <a:t>Deployment Portal (this webapp) — reads + writes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737360"/>
            <a:ext cx="4206240" cy="4572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Projects (5 types)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31720"/>
            <a:ext cx="2011680" cy="640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Station Kits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kit SN · computer SN ·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331720"/>
            <a:ext cx="2011680" cy="640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Fleet Assets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Camera · Lens · Computer · LED SNs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154679"/>
            <a:ext cx="4206240" cy="64008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F172A"/>
                </a:solidFill>
              </a:rPr>
              <a:t>Shipments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INxxx · carrier · tracking · ship date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749040" y="2194560"/>
            <a:ext cx="1097280" cy="1371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2194560"/>
            <a:ext cx="1097280" cy="1371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49040" y="2971800"/>
            <a:ext cx="1097280" cy="182879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846320" y="2971800"/>
            <a:ext cx="1097280" cy="182879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1737360"/>
            <a:ext cx="1645920" cy="502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0F172A"/>
                </a:solidFill>
              </a:rPr>
              <a:t>SalesHub Deals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(no integration)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468880"/>
            <a:ext cx="164592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0F172A"/>
                </a:solidFill>
              </a:rPr>
              <a:t>CS Programs</a:t>
            </a:r>
          </a:p>
          <a:p>
            <a:pPr algn="ctr"/>
            <a:r>
              <a:rPr sz="850">
                <a:solidFill>
                  <a:srgbClr val="64748B"/>
                </a:solidFill>
              </a:rPr>
              <a:t>Kickoff → Onboarding
→ Validation → Complete
(partial integration)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1965960"/>
            <a:ext cx="2743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23160" y="3108960"/>
            <a:ext cx="274320" cy="3657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4480560"/>
            <a:ext cx="164592" cy="164592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19A974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43984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Owned by Deployment Portal (read + write)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36592"/>
            <a:ext cx="164592" cy="16459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00016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Partial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92624"/>
            <a:ext cx="164592" cy="164592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5604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No integration yet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1280160"/>
            <a:ext cx="4007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Connect next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691640"/>
            <a:ext cx="400781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1691640"/>
            <a:ext cx="54864" cy="1371600"/>
          </a:xfrm>
          <a:prstGeom prst="rect">
            <a:avLst/>
          </a:prstGeom>
          <a:solidFill>
            <a:srgbClr val="19A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1801368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Cert &amp;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075688"/>
            <a:ext cx="3733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Michael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2331720"/>
            <a:ext cx="37334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92400E"/>
                </a:solidFill>
              </a:rPr>
              <a:t>[BLANK — platform + endpoints]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200400"/>
            <a:ext cx="400781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3200400"/>
            <a:ext cx="54864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45552" y="3310128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Customer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584448"/>
            <a:ext cx="3733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Amy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3840480"/>
            <a:ext cx="37334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1">
                <a:solidFill>
                  <a:srgbClr val="92400E"/>
                </a:solidFill>
              </a:rPr>
              <a:t>[BLANK — what + where]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4709160"/>
            <a:ext cx="400781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4709160"/>
            <a:ext cx="54864" cy="13716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5552" y="4818888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Amplitude 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5093208"/>
            <a:ext cx="37334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[BLANK — owner]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5349240"/>
            <a:ext cx="37334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Track: opens, syncs, writeback success, AI queries, activation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